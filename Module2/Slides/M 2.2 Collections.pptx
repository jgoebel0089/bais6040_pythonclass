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3" r:id="rId5"/>
    <p:sldId id="265" r:id="rId6"/>
    <p:sldId id="267" r:id="rId7"/>
    <p:sldId id="266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yn Goebel" userId="99479511-35b1-4688-969f-6a84e611147c" providerId="ADAL" clId="{9D8FE9D8-8603-403B-A64D-317B8942BA34}"/>
    <pc:docChg chg="mod modMainMaster">
      <pc:chgData name="Jacyn Goebel" userId="99479511-35b1-4688-969f-6a84e611147c" providerId="ADAL" clId="{9D8FE9D8-8603-403B-A64D-317B8942BA34}" dt="2026-01-25T01:14:14.750" v="1" actId="33475"/>
      <pc:docMkLst>
        <pc:docMk/>
      </pc:docMkLst>
      <pc:sldMasterChg chg="addSp mod">
        <pc:chgData name="Jacyn Goebel" userId="99479511-35b1-4688-969f-6a84e611147c" providerId="ADAL" clId="{9D8FE9D8-8603-403B-A64D-317B8942BA34}" dt="2026-01-25T01:14:14.747" v="0" actId="33475"/>
        <pc:sldMasterMkLst>
          <pc:docMk/>
          <pc:sldMasterMk cId="2563760958" sldId="2147483648"/>
        </pc:sldMasterMkLst>
        <pc:spChg chg="add">
          <ac:chgData name="Jacyn Goebel" userId="99479511-35b1-4688-969f-6a84e611147c" providerId="ADAL" clId="{9D8FE9D8-8603-403B-A64D-317B8942BA34}" dt="2026-01-25T01:14:14.747" v="0" actId="33475"/>
          <ac:spMkLst>
            <pc:docMk/>
            <pc:sldMasterMk cId="2563760958" sldId="2147483648"/>
            <ac:spMk id="5" creationId="{53024AF1-B89E-E3D0-22A0-3E6BAE25A5DC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4AF1-B89E-E3D0-22A0-3E6BAE25A5D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30" y="506891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Collection Data Types</a:t>
            </a:r>
            <a:endParaRPr lang="en-US" dirty="0"/>
          </a:p>
        </p:txBody>
      </p:sp>
      <p:pic>
        <p:nvPicPr>
          <p:cNvPr id="5" name="Picture 4" descr="A computer screen shot of a computer code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43C3-6AC0-ADC2-56A0-11AB58CD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B3F2C-8F45-AB84-A64E-97E4500D9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96" y="1461686"/>
            <a:ext cx="5531104" cy="4127627"/>
          </a:xfrm>
        </p:spPr>
        <p:txBody>
          <a:bodyPr/>
          <a:lstStyle/>
          <a:p>
            <a:r>
              <a:rPr lang="en-US" dirty="0"/>
              <a:t>Lists are ordered [0, 1, 2, 3, 4]</a:t>
            </a:r>
          </a:p>
          <a:p>
            <a:r>
              <a:rPr lang="en-US" dirty="0"/>
              <a:t>Lists are mutable (can be changed) with dot methods</a:t>
            </a:r>
          </a:p>
          <a:p>
            <a:pPr lvl="1"/>
            <a:r>
              <a:rPr lang="en-US" dirty="0"/>
              <a:t>list1.append() </a:t>
            </a:r>
          </a:p>
          <a:p>
            <a:pPr lvl="1"/>
            <a:r>
              <a:rPr lang="en-US" dirty="0"/>
              <a:t>list1.remove()</a:t>
            </a:r>
          </a:p>
          <a:p>
            <a:endParaRPr lang="en-US" dirty="0"/>
          </a:p>
        </p:txBody>
      </p:sp>
      <p:sp>
        <p:nvSpPr>
          <p:cNvPr id="5" name="Shape 229">
            <a:extLst>
              <a:ext uri="{FF2B5EF4-FFF2-40B4-BE49-F238E27FC236}">
                <a16:creationId xmlns:a16="http://schemas.microsoft.com/office/drawing/2014/main" id="{714F8831-EFB0-A937-CB63-BF5F1A081903}"/>
              </a:ext>
            </a:extLst>
          </p:cNvPr>
          <p:cNvSpPr txBox="1"/>
          <p:nvPr/>
        </p:nvSpPr>
        <p:spPr>
          <a:xfrm>
            <a:off x="573363" y="4276651"/>
            <a:ext cx="4480125" cy="2113989"/>
          </a:xfrm>
          <a:prstGeom prst="rect">
            <a:avLst/>
          </a:prstGeom>
          <a:solidFill>
            <a:srgbClr val="F1FAFD"/>
          </a:solidFill>
          <a:ln>
            <a:solidFill>
              <a:srgbClr val="0070C0"/>
            </a:solidFill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prstClr val="white"/>
              </a:buClr>
              <a:buSzPct val="25000"/>
            </a:pPr>
            <a:endParaRPr lang="en-US" b="1" dirty="0">
              <a:solidFill>
                <a:prstClr val="black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lotto = [2, 14, </a:t>
            </a:r>
            <a:r>
              <a:rPr lang="en-US" b="1" dirty="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, 41, 63]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lotto[2] = </a:t>
            </a:r>
            <a:r>
              <a:rPr lang="en-US" b="1" dirty="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 New"/>
              </a:rPr>
              <a:t>30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print(lotto)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&gt;&gt;&gt; [2, 14, </a:t>
            </a:r>
            <a:r>
              <a:rPr lang="en-US" b="1" dirty="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 New"/>
              </a:rPr>
              <a:t>30</a:t>
            </a: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, 41, 63]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lotto.append(1)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print(lotto)</a:t>
            </a:r>
          </a:p>
          <a:p>
            <a:pPr>
              <a:buClr>
                <a:prstClr val="white"/>
              </a:buClr>
              <a:buSzPct val="25000"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&gt;&gt;&gt; [2, 14, 30, 41, 63, </a:t>
            </a:r>
            <a:r>
              <a:rPr lang="en-US" b="1" dirty="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prstClr val="white"/>
              </a:buClr>
              <a:buSzPct val="25000"/>
            </a:pPr>
            <a:endParaRPr lang="en-US" b="1" dirty="0">
              <a:solidFill>
                <a:prstClr val="black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prstClr val="white"/>
              </a:buClr>
              <a:buSzPct val="25000"/>
            </a:pPr>
            <a:endParaRPr lang="en-US" b="1" dirty="0">
              <a:solidFill>
                <a:prstClr val="black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2986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521F-AD83-609A-DCCB-B0655051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5A6D-4F5C-6508-1440-9E4D67619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6" y="1847088"/>
            <a:ext cx="7363968" cy="4127627"/>
          </a:xfrm>
        </p:spPr>
        <p:txBody>
          <a:bodyPr/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  <a:sym typeface="Cabin"/>
              </a:rPr>
              <a:t>Dictionaries use curly braces and have a collection of </a:t>
            </a:r>
            <a:r>
              <a:rPr lang="en-US" b="1" dirty="0">
                <a:latin typeface="Arial" charset="0"/>
                <a:ea typeface="Arial" charset="0"/>
                <a:cs typeface="Arial" charset="0"/>
                <a:sym typeface="Cabin"/>
              </a:rPr>
              <a:t>key : value</a:t>
            </a:r>
            <a:r>
              <a:rPr lang="en-US" dirty="0">
                <a:latin typeface="Arial" charset="0"/>
                <a:ea typeface="Arial" charset="0"/>
                <a:cs typeface="Arial" charset="0"/>
                <a:sym typeface="Cabin"/>
              </a:rPr>
              <a:t> pairs</a:t>
            </a:r>
          </a:p>
          <a:p>
            <a:r>
              <a:rPr lang="en-US" dirty="0"/>
              <a:t>Think of it as looking up a value (definition) in a dictionary based on the key (word)</a:t>
            </a:r>
          </a:p>
        </p:txBody>
      </p:sp>
      <p:sp>
        <p:nvSpPr>
          <p:cNvPr id="5" name="Shape 297">
            <a:extLst>
              <a:ext uri="{FF2B5EF4-FFF2-40B4-BE49-F238E27FC236}">
                <a16:creationId xmlns:a16="http://schemas.microsoft.com/office/drawing/2014/main" id="{446E415D-F09E-F8F8-DB4A-E30E8B5286A5}"/>
              </a:ext>
            </a:extLst>
          </p:cNvPr>
          <p:cNvSpPr txBox="1"/>
          <p:nvPr/>
        </p:nvSpPr>
        <p:spPr>
          <a:xfrm>
            <a:off x="678704" y="5000507"/>
            <a:ext cx="5417296" cy="6673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scores = {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'Chuck'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61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'Fred'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42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'Jan'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100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}</a:t>
            </a:r>
          </a:p>
          <a:p>
            <a:pPr lvl="0" defTabSz="457200">
              <a:buClr>
                <a:prstClr val="white"/>
              </a:buClr>
              <a:buSzPct val="25000"/>
              <a:defRPr/>
            </a:pPr>
            <a:r>
              <a:rPr lang="en-US" sz="2800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print(scores[</a:t>
            </a:r>
            <a:r>
              <a:rPr lang="en-US" sz="2800" b="1" dirty="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 New"/>
              </a:rPr>
              <a:t>'Fred’</a:t>
            </a:r>
            <a:r>
              <a:rPr lang="en-US" sz="2800" b="1" dirty="0">
                <a:solidFill>
                  <a:prstClr val="black"/>
                </a:solidFill>
                <a:latin typeface="Courier"/>
                <a:sym typeface="Courier New"/>
              </a:rPr>
              <a:t>])&gt; 42</a:t>
            </a:r>
            <a:r>
              <a:rPr lang="en-US" sz="2800" b="1" dirty="0">
                <a:solidFill>
                  <a:prstClr val="black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5557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0476-15A3-7E82-96D8-74C33561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D218-9B46-AC29-7354-9212F29BA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9717" lvl="0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Tuples</a:t>
            </a: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are very similar to lists: less flexible and not mutable, but optimized for speed and efficiency</a:t>
            </a:r>
          </a:p>
          <a:p>
            <a:pPr marL="529717" lvl="0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Tuples</a:t>
            </a: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use </a:t>
            </a:r>
            <a:r>
              <a:rPr lang="en-US" sz="2800" dirty="0">
                <a:solidFill>
                  <a:srgbClr val="00EA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parentheses</a:t>
            </a: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to denote them. </a:t>
            </a:r>
          </a:p>
          <a:p>
            <a:pPr marL="529717" lvl="0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Tuples</a:t>
            </a: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elements can vary in data type.</a:t>
            </a:r>
          </a:p>
          <a:p>
            <a:pPr marL="529717" lvl="0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endParaRPr lang="en-US" sz="28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529717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b="1" dirty="0">
                <a:solidFill>
                  <a:srgbClr val="00B0F0"/>
                </a:solidFill>
                <a:latin typeface="Courier"/>
                <a:ea typeface="Courier New"/>
                <a:cs typeface="Courier"/>
                <a:sym typeface="Courier New"/>
              </a:rPr>
              <a:t>coordinates = </a:t>
            </a:r>
            <a:r>
              <a:rPr lang="en-US" sz="2800" b="1" dirty="0">
                <a:solidFill>
                  <a:srgbClr val="00EA00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800" b="1" dirty="0">
                <a:solidFill>
                  <a:srgbClr val="00B0F0"/>
                </a:solidFill>
                <a:latin typeface="Courier"/>
                <a:ea typeface="Courier New"/>
                <a:cs typeface="Courier"/>
                <a:sym typeface="Courier New"/>
              </a:rPr>
              <a:t>-1, 3, 7</a:t>
            </a:r>
            <a:r>
              <a:rPr lang="en-US" sz="2800" b="1" dirty="0">
                <a:solidFill>
                  <a:srgbClr val="00EA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529717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2800" b="1" dirty="0">
                <a:solidFill>
                  <a:srgbClr val="00B0F0"/>
                </a:solidFill>
                <a:latin typeface="Courier"/>
                <a:ea typeface="Courier New"/>
                <a:cs typeface="Courier"/>
                <a:sym typeface="Courier New"/>
              </a:rPr>
              <a:t>matchup = </a:t>
            </a:r>
            <a:r>
              <a:rPr lang="en-US" sz="2800" b="1" dirty="0">
                <a:solidFill>
                  <a:srgbClr val="00EA00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800" b="1" dirty="0">
                <a:solidFill>
                  <a:srgbClr val="00B0F0"/>
                </a:solidFill>
                <a:latin typeface="Courier"/>
                <a:ea typeface="Courier New"/>
                <a:cs typeface="Courier"/>
                <a:sym typeface="Courier New"/>
              </a:rPr>
              <a:t>‘Nebraska’, 'Iowa'</a:t>
            </a:r>
            <a:r>
              <a:rPr lang="en-US" sz="2800" b="1" dirty="0">
                <a:solidFill>
                  <a:srgbClr val="00EA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529717" lvl="0" indent="-457200" defTabSz="457200">
              <a:lnSpc>
                <a:spcPct val="100000"/>
              </a:lnSpc>
              <a:spcBef>
                <a:spcPts val="0"/>
              </a:spcBef>
              <a:buSzTx/>
              <a:defRPr/>
            </a:pPr>
            <a:endParaRPr lang="en-US" sz="28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2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A41F-AC5D-6BE8-AB7F-57B71602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0A63-0749-6788-5CDC-406119280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6284976" cy="412762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Sets</a:t>
            </a:r>
            <a:r>
              <a:rPr lang="en-US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are defined using the </a:t>
            </a:r>
            <a:r>
              <a:rPr lang="en-US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set function </a:t>
            </a:r>
            <a:r>
              <a:rPr lang="en-US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 </a:t>
            </a:r>
            <a:r>
              <a:rPr lang="en-US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curly braces </a:t>
            </a:r>
            <a:r>
              <a:rPr lang="en-US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(like dictionaries but without colon)</a:t>
            </a:r>
          </a:p>
          <a:p>
            <a:r>
              <a:rPr lang="en-US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order to them and only unique values</a:t>
            </a:r>
          </a:p>
          <a:p>
            <a:r>
              <a:rPr lang="en-US" b="1" dirty="0">
                <a:solidFill>
                  <a:prstClr val="black"/>
                </a:solidFill>
                <a:latin typeface="Courier"/>
                <a:ea typeface="Courier New"/>
                <a:cs typeface="Courier"/>
                <a:sym typeface="Courier New"/>
              </a:rPr>
              <a:t>days = {'Monday', 'Tuesday', 'Wednesday'}</a:t>
            </a:r>
          </a:p>
          <a:p>
            <a:pPr marL="182880" lvl="0" indent="0" defTabSz="457200">
              <a:lnSpc>
                <a:spcPct val="100000"/>
              </a:lnSpc>
              <a:spcBef>
                <a:spcPts val="0"/>
              </a:spcBef>
              <a:buClr>
                <a:prstClr val="white"/>
              </a:buClr>
              <a:buSzPct val="25000"/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 New"/>
                <a:cs typeface="Courier"/>
                <a:sym typeface="Courier New"/>
              </a:rPr>
              <a:t>letters = ['A', 'C', 'A', 'A', 'B', 'B', 'C']</a:t>
            </a:r>
          </a:p>
          <a:p>
            <a:pPr marL="182880" lvl="0" indent="0" defTabSz="457200">
              <a:lnSpc>
                <a:spcPct val="100000"/>
              </a:lnSpc>
              <a:spcBef>
                <a:spcPts val="0"/>
              </a:spcBef>
              <a:buClr>
                <a:prstClr val="white"/>
              </a:buClr>
              <a:buSzPct val="25000"/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Courier"/>
                <a:ea typeface="Courier New"/>
                <a:cs typeface="Courier"/>
                <a:sym typeface="Courier New"/>
              </a:rPr>
              <a:t>options = set(letters) &gt; {'A', 'C', 'B'}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2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7B29-A388-2549-8D6A-AF1B0425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data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B589-6195-DC40-A3E8-443B3713B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characteristics:</a:t>
            </a:r>
          </a:p>
          <a:p>
            <a:pPr lvl="1"/>
            <a:r>
              <a:rPr lang="en-US" dirty="0"/>
              <a:t>List, tuple, dictionary, set</a:t>
            </a:r>
          </a:p>
        </p:txBody>
      </p:sp>
      <p:pic>
        <p:nvPicPr>
          <p:cNvPr id="5" name="Picture 4" descr="Table comparing collection data types">
            <a:extLst>
              <a:ext uri="{FF2B5EF4-FFF2-40B4-BE49-F238E27FC236}">
                <a16:creationId xmlns:a16="http://schemas.microsoft.com/office/drawing/2014/main" id="{8B4A6B6B-5616-87F4-8609-8CBE68B20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35808"/>
            <a:ext cx="5893398" cy="1338372"/>
          </a:xfrm>
          <a:prstGeom prst="rect">
            <a:avLst/>
          </a:prstGeom>
        </p:spPr>
      </p:pic>
      <p:pic>
        <p:nvPicPr>
          <p:cNvPr id="4" name="Picture 3" descr="Taylor Swift bracelets representing Python collection data types&#10;">
            <a:extLst>
              <a:ext uri="{FF2B5EF4-FFF2-40B4-BE49-F238E27FC236}">
                <a16:creationId xmlns:a16="http://schemas.microsoft.com/office/drawing/2014/main" id="{A9FCFB98-0E91-D94D-C669-65AF930E8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4" y="4543552"/>
            <a:ext cx="1847088" cy="184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5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117</TotalTime>
  <Words>293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Courier</vt:lpstr>
      <vt:lpstr>Roboto</vt:lpstr>
      <vt:lpstr>Banded Design UI Gold 16x9</vt:lpstr>
      <vt:lpstr>Data Programming  in Python _________________ Collection Data Types</vt:lpstr>
      <vt:lpstr>Lists</vt:lpstr>
      <vt:lpstr>Dictionaries</vt:lpstr>
      <vt:lpstr>Tuples</vt:lpstr>
      <vt:lpstr>Sets</vt:lpstr>
      <vt:lpstr>Storing data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Jacyn Goebel</cp:lastModifiedBy>
  <cp:revision>46</cp:revision>
  <dcterms:created xsi:type="dcterms:W3CDTF">2025-07-14T11:21:17Z</dcterms:created>
  <dcterms:modified xsi:type="dcterms:W3CDTF">2026-01-25T01:14:22Z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  <property fmtid="{D5CDD505-2E9C-101B-9397-08002B2CF9AE}" pid="5" name="ClassificationContentMarkingFooterLocations">
    <vt:lpwstr>Banded Design UI Gold 16x9:5</vt:lpwstr>
  </property>
  <property fmtid="{D5CDD505-2E9C-101B-9397-08002B2CF9AE}" pid="6" name="ClassificationContentMarkingFooterText">
    <vt:lpwstr>Company Use</vt:lpwstr>
  </property>
</Properties>
</file>